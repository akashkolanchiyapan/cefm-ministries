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67" r:id="rId2"/>
    <p:sldId id="256" r:id="rId3"/>
    <p:sldId id="258" r:id="rId4"/>
    <p:sldId id="259" r:id="rId5"/>
    <p:sldId id="260" r:id="rId6"/>
    <p:sldId id="261" r:id="rId7"/>
    <p:sldId id="262" r:id="rId8"/>
    <p:sldId id="263"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0" d="100"/>
          <a:sy n="80" d="100"/>
        </p:scale>
        <p:origin x="82"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777595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1849191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2591838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2FC6F9-036D-402F-A984-0D5611EAB264}" type="datetimeFigureOut">
              <a:rPr lang="en-IN" smtClean="0"/>
              <a:t>26-06-2025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241705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2FC6F9-036D-402F-A984-0D5611EAB264}" type="datetimeFigureOut">
              <a:rPr lang="en-IN" smtClean="0"/>
              <a:t>26-06-2025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6634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2FC6F9-036D-402F-A984-0D5611EAB264}" type="datetimeFigureOut">
              <a:rPr lang="en-IN" smtClean="0"/>
              <a:t>26-06-2025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224427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2FC6F9-036D-402F-A984-0D5611EAB264}" type="datetimeFigureOut">
              <a:rPr lang="en-IN" smtClean="0"/>
              <a:t>26-06-2025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250037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2FC6F9-036D-402F-A984-0D5611EAB264}" type="datetimeFigureOut">
              <a:rPr lang="en-IN" smtClean="0"/>
              <a:t>26-06-2025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427408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B603FD-768D-441C-8397-F1477A8A829D}" type="slidenum">
              <a:rPr lang="en-IN" smtClean="0"/>
              <a:t>‹#›</a:t>
            </a:fld>
            <a:endParaRPr lang="en-IN"/>
          </a:p>
        </p:txBody>
      </p:sp>
      <p:sp>
        <p:nvSpPr>
          <p:cNvPr id="5" name="Date Placeholder 4"/>
          <p:cNvSpPr>
            <a:spLocks noGrp="1"/>
          </p:cNvSpPr>
          <p:nvPr>
            <p:ph type="dt" sz="half" idx="10"/>
          </p:nvPr>
        </p:nvSpPr>
        <p:spPr/>
        <p:txBody>
          <a:bodyPr/>
          <a:lstStyle/>
          <a:p>
            <a:fld id="{6C2FC6F9-036D-402F-A984-0D5611EAB264}" type="datetimeFigureOut">
              <a:rPr lang="en-IN" smtClean="0"/>
              <a:t>26-06-2025</a:t>
            </a:fld>
            <a:endParaRPr lang="en-IN"/>
          </a:p>
        </p:txBody>
      </p:sp>
    </p:spTree>
    <p:extLst>
      <p:ext uri="{BB962C8B-B14F-4D97-AF65-F5344CB8AC3E}">
        <p14:creationId xmlns:p14="http://schemas.microsoft.com/office/powerpoint/2010/main" val="3109198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592944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420264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003069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1908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114527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2131780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2FC6F9-036D-402F-A984-0D5611EAB264}" type="datetimeFigureOut">
              <a:rPr lang="en-IN" smtClean="0"/>
              <a:t>26-06-2025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B603FD-768D-441C-8397-F1477A8A829D}" type="slidenum">
              <a:rPr lang="en-IN" smtClean="0"/>
              <a:t>‹#›</a:t>
            </a:fld>
            <a:endParaRPr lang="en-IN"/>
          </a:p>
        </p:txBody>
      </p:sp>
    </p:spTree>
    <p:extLst>
      <p:ext uri="{BB962C8B-B14F-4D97-AF65-F5344CB8AC3E}">
        <p14:creationId xmlns:p14="http://schemas.microsoft.com/office/powerpoint/2010/main" val="38007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2FC6F9-036D-402F-A984-0D5611EAB264}" type="datetimeFigureOut">
              <a:rPr lang="en-IN" smtClean="0"/>
              <a:t>26-06-2025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9B603FD-768D-441C-8397-F1477A8A829D}" type="slidenum">
              <a:rPr lang="en-IN" smtClean="0"/>
              <a:t>‹#›</a:t>
            </a:fld>
            <a:endParaRPr lang="en-IN"/>
          </a:p>
        </p:txBody>
      </p:sp>
    </p:spTree>
    <p:extLst>
      <p:ext uri="{BB962C8B-B14F-4D97-AF65-F5344CB8AC3E}">
        <p14:creationId xmlns:p14="http://schemas.microsoft.com/office/powerpoint/2010/main" val="652240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opencv.org/" TargetMode="External"/><Relationship Id="rId2" Type="http://schemas.openxmlformats.org/officeDocument/2006/relationships/hyperlink" Target="https://keras.io/" TargetMode="External"/><Relationship Id="rId1" Type="http://schemas.openxmlformats.org/officeDocument/2006/relationships/slideLayout" Target="../slideLayouts/slideLayout2.xml"/><Relationship Id="rId4" Type="http://schemas.openxmlformats.org/officeDocument/2006/relationships/hyperlink" Target="https://colab.research.google.c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DA2F-6248-D888-19FD-17B66642F6C3}"/>
              </a:ext>
            </a:extLst>
          </p:cNvPr>
          <p:cNvSpPr>
            <a:spLocks noGrp="1"/>
          </p:cNvSpPr>
          <p:nvPr>
            <p:ph type="title"/>
          </p:nvPr>
        </p:nvSpPr>
        <p:spPr>
          <a:xfrm>
            <a:off x="677335" y="619759"/>
            <a:ext cx="8596668" cy="3066415"/>
          </a:xfrm>
        </p:spPr>
        <p:txBody>
          <a:bodyPr>
            <a:normAutofit/>
          </a:bodyPr>
          <a:lstStyle/>
          <a:p>
            <a:pPr algn="ctr"/>
            <a:r>
              <a:rPr lang="en-US" sz="3600" b="1" i="1" u="sng" dirty="0">
                <a:latin typeface="Times New Roman" panose="02020603050405020304" pitchFamily="18" charset="0"/>
                <a:cs typeface="Times New Roman" panose="02020603050405020304" pitchFamily="18" charset="0"/>
              </a:rPr>
              <a:t>TITLE</a:t>
            </a:r>
            <a:r>
              <a:rPr lang="en-US" sz="3600" b="1" i="1" u="sng" dirty="0">
                <a:solidFill>
                  <a:schemeClr val="tx1"/>
                </a:solidFill>
                <a:latin typeface="Times New Roman" panose="02020603050405020304" pitchFamily="18" charset="0"/>
                <a:cs typeface="Times New Roman" panose="02020603050405020304" pitchFamily="18" charset="0"/>
              </a:rPr>
              <a:t>:"CNN-Powered Paddy Variety Detection Using AI and ML"</a:t>
            </a:r>
            <a:endParaRPr lang="en-IN" sz="3600" b="1" i="1" u="sng"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44C663A-F83D-5AF6-0873-DA2010D2AEBB}"/>
              </a:ext>
            </a:extLst>
          </p:cNvPr>
          <p:cNvSpPr>
            <a:spLocks noGrp="1"/>
          </p:cNvSpPr>
          <p:nvPr>
            <p:ph type="body" idx="1"/>
          </p:nvPr>
        </p:nvSpPr>
        <p:spPr>
          <a:xfrm>
            <a:off x="677335" y="4150486"/>
            <a:ext cx="8971490" cy="2307464"/>
          </a:xfrm>
        </p:spPr>
        <p:txBody>
          <a:bodyPr/>
          <a:lstStyle/>
          <a:p>
            <a:r>
              <a:rPr lang="en-US" sz="2000" b="1" u="sng" dirty="0">
                <a:latin typeface="Times New Roman" panose="02020603050405020304" pitchFamily="18" charset="0"/>
                <a:cs typeface="Times New Roman" panose="02020603050405020304" pitchFamily="18" charset="0"/>
              </a:rPr>
              <a:t>PRESENTED BY:</a:t>
            </a:r>
          </a:p>
          <a:p>
            <a:r>
              <a:rPr lang="en-US" sz="1600" dirty="0">
                <a:latin typeface="Times New Roman" panose="02020603050405020304" pitchFamily="18" charset="0"/>
                <a:cs typeface="Times New Roman" panose="02020603050405020304" pitchFamily="18" charset="0"/>
              </a:rPr>
              <a:t>AKASH K-210624243005</a:t>
            </a:r>
          </a:p>
          <a:p>
            <a:r>
              <a:rPr lang="en-US" sz="1600" dirty="0">
                <a:latin typeface="Times New Roman" panose="02020603050405020304" pitchFamily="18" charset="0"/>
                <a:cs typeface="Times New Roman" panose="02020603050405020304" pitchFamily="18" charset="0"/>
              </a:rPr>
              <a:t>MANOJ  M-210624243045</a:t>
            </a:r>
          </a:p>
          <a:p>
            <a:r>
              <a:rPr lang="en-US" sz="1600" dirty="0">
                <a:latin typeface="Times New Roman" panose="02020603050405020304" pitchFamily="18" charset="0"/>
                <a:cs typeface="Times New Roman" panose="02020603050405020304" pitchFamily="18" charset="0"/>
              </a:rPr>
              <a:t>GOKULANATHAN K-210624243019</a:t>
            </a:r>
          </a:p>
          <a:p>
            <a:endParaRPr lang="en-US" dirty="0">
              <a:latin typeface="Times New Roman" panose="02020603050405020304" pitchFamily="18" charset="0"/>
              <a:cs typeface="Times New Roman" panose="02020603050405020304" pitchFamily="18" charset="0"/>
            </a:endParaRPr>
          </a:p>
        </p:txBody>
      </p:sp>
      <p:pic>
        <p:nvPicPr>
          <p:cNvPr id="4" name="Picture 2" descr="JEPPIAAR INSTITUTE OF TECHNOLOGY">
            <a:extLst>
              <a:ext uri="{FF2B5EF4-FFF2-40B4-BE49-F238E27FC236}">
                <a16:creationId xmlns:a16="http://schemas.microsoft.com/office/drawing/2014/main" id="{081C5C7A-1952-C543-B753-CC53B548B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160" y="155447"/>
            <a:ext cx="8656320" cy="1653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541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82AA22-1EE3-1AAC-19B3-4B1E91767A48}"/>
              </a:ext>
            </a:extLst>
          </p:cNvPr>
          <p:cNvSpPr>
            <a:spLocks noGrp="1"/>
          </p:cNvSpPr>
          <p:nvPr>
            <p:ph type="title"/>
          </p:nvPr>
        </p:nvSpPr>
        <p:spPr>
          <a:xfrm>
            <a:off x="677334" y="609600"/>
            <a:ext cx="8596668" cy="924560"/>
          </a:xfrm>
        </p:spPr>
        <p:txBody>
          <a:bodyPr>
            <a:normAutofit/>
          </a:bodyPr>
          <a:lstStyle/>
          <a:p>
            <a:r>
              <a:rPr lang="en-US" dirty="0">
                <a:latin typeface="Times New Roman" panose="02020603050405020304" pitchFamily="18" charset="0"/>
                <a:cs typeface="Times New Roman" panose="02020603050405020304" pitchFamily="18" charset="0"/>
              </a:rPr>
              <a:t>1.0 .ABSTRACT:</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289570F-17E5-2444-854C-97D216A9C14F}"/>
              </a:ext>
            </a:extLst>
          </p:cNvPr>
          <p:cNvSpPr>
            <a:spLocks noGrp="1"/>
          </p:cNvSpPr>
          <p:nvPr>
            <p:ph idx="1"/>
          </p:nvPr>
        </p:nvSpPr>
        <p:spPr>
          <a:xfrm>
            <a:off x="809414" y="1534161"/>
            <a:ext cx="8596668" cy="4100802"/>
          </a:xfrm>
        </p:spPr>
        <p:txBody>
          <a:bodyPr>
            <a:normAutofit/>
          </a:bodyPr>
          <a:lstStyle/>
          <a:p>
            <a:r>
              <a:rPr lang="en-US" dirty="0">
                <a:latin typeface="Times New Roman" panose="02020603050405020304" pitchFamily="18" charset="0"/>
                <a:cs typeface="Times New Roman" panose="02020603050405020304" pitchFamily="18" charset="0"/>
              </a:rPr>
              <a:t>Paddy variety detection is essential in agriculture due to differences in yield, growth time, and resistance among rice types. Traditional identification methods are manual and often inaccurate. </a:t>
            </a:r>
          </a:p>
          <a:p>
            <a:r>
              <a:rPr lang="en-US" dirty="0">
                <a:latin typeface="Times New Roman" panose="02020603050405020304" pitchFamily="18" charset="0"/>
                <a:cs typeface="Times New Roman" panose="02020603050405020304" pitchFamily="18" charset="0"/>
              </a:rPr>
              <a:t>This project introduces an AI-based solution using Convolutional Neural Networks (CNN) to automatically classify paddy varieties from grain images. A diverse dataset is collected and preprocessed to improve image quality. </a:t>
            </a:r>
          </a:p>
          <a:p>
            <a:r>
              <a:rPr lang="en-US" dirty="0">
                <a:latin typeface="Times New Roman" panose="02020603050405020304" pitchFamily="18" charset="0"/>
                <a:cs typeface="Times New Roman" panose="02020603050405020304" pitchFamily="18" charset="0"/>
              </a:rPr>
              <a:t>The CNN model is trained to recognize features like grain shape, size, texture, and surface patterns. The system is evaluated using metrics such as accuracy, precision, and recall, showing strong performance. </a:t>
            </a:r>
          </a:p>
          <a:p>
            <a:r>
              <a:rPr lang="en-US" dirty="0">
                <a:latin typeface="Times New Roman" panose="02020603050405020304" pitchFamily="18" charset="0"/>
                <a:cs typeface="Times New Roman" panose="02020603050405020304" pitchFamily="18" charset="0"/>
              </a:rPr>
              <a:t>This approach offers a fast, reliable, and efficient way to identify paddy varieties, helping farmers and quality control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53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ED050-1C96-D817-8067-04C6EBD854EA}"/>
              </a:ext>
            </a:extLst>
          </p:cNvPr>
          <p:cNvSpPr>
            <a:spLocks noGrp="1"/>
          </p:cNvSpPr>
          <p:nvPr>
            <p:ph type="title"/>
          </p:nvPr>
        </p:nvSpPr>
        <p:spPr>
          <a:xfrm>
            <a:off x="677334" y="609600"/>
            <a:ext cx="8596668" cy="866862"/>
          </a:xfrm>
        </p:spPr>
        <p:txBody>
          <a:bodyPr>
            <a:normAutofit fontScale="90000"/>
          </a:bodyPr>
          <a:lstStyle/>
          <a:p>
            <a:r>
              <a:rPr lang="en-US" dirty="0">
                <a:latin typeface="Times New Roman" panose="02020603050405020304" pitchFamily="18" charset="0"/>
                <a:cs typeface="Times New Roman" panose="02020603050405020304" pitchFamily="18" charset="0"/>
              </a:rPr>
              <a:t>2.0.PROBLEM STATEMENT: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1E48AA-56E0-E2B0-80E8-61A104225FF7}"/>
              </a:ext>
            </a:extLst>
          </p:cNvPr>
          <p:cNvSpPr>
            <a:spLocks noGrp="1"/>
          </p:cNvSpPr>
          <p:nvPr>
            <p:ph idx="1"/>
          </p:nvPr>
        </p:nvSpPr>
        <p:spPr>
          <a:xfrm>
            <a:off x="677334" y="1543575"/>
            <a:ext cx="8596668" cy="4497788"/>
          </a:xfrm>
        </p:spPr>
        <p:txBody>
          <a:bodyPr/>
          <a:lstStyle/>
          <a:p>
            <a:r>
              <a:rPr lang="en-US" dirty="0">
                <a:latin typeface="Times New Roman" panose="02020603050405020304" pitchFamily="18" charset="0"/>
                <a:cs typeface="Times New Roman" panose="02020603050405020304" pitchFamily="18" charset="0"/>
              </a:rPr>
              <a:t>Paddy variety identification is critical for crop yield, maturity, grain quality, and pest resistance.</a:t>
            </a:r>
          </a:p>
          <a:p>
            <a:r>
              <a:rPr lang="en-US" dirty="0">
                <a:latin typeface="Times New Roman" panose="02020603050405020304" pitchFamily="18" charset="0"/>
                <a:cs typeface="Times New Roman" panose="02020603050405020304" pitchFamily="18" charset="0"/>
              </a:rPr>
              <a:t>Traditional methods are manual, time-consuming, and depend on expert knowledge.</a:t>
            </a:r>
          </a:p>
          <a:p>
            <a:r>
              <a:rPr lang="en-US" dirty="0">
                <a:latin typeface="Times New Roman" panose="02020603050405020304" pitchFamily="18" charset="0"/>
                <a:cs typeface="Times New Roman" panose="02020603050405020304" pitchFamily="18" charset="0"/>
              </a:rPr>
              <a:t>These methods are subjective, error-prone, and inefficient, especially in large-scale operations.</a:t>
            </a:r>
          </a:p>
          <a:p>
            <a:r>
              <a:rPr lang="en-US" dirty="0">
                <a:latin typeface="Times New Roman" panose="02020603050405020304" pitchFamily="18" charset="0"/>
                <a:cs typeface="Times New Roman" panose="02020603050405020304" pitchFamily="18" charset="0"/>
              </a:rPr>
              <a:t>Misidentification can lead to poor crop performance, financial loss, and quality issues.</a:t>
            </a:r>
          </a:p>
          <a:p>
            <a:r>
              <a:rPr lang="en-US" dirty="0">
                <a:latin typeface="Times New Roman" panose="02020603050405020304" pitchFamily="18" charset="0"/>
                <a:cs typeface="Times New Roman" panose="02020603050405020304" pitchFamily="18" charset="0"/>
              </a:rPr>
              <a:t>There is a need for an automated, accurate, and scalable system for paddy variety detection.</a:t>
            </a:r>
          </a:p>
          <a:p>
            <a:r>
              <a:rPr lang="en-US" dirty="0">
                <a:latin typeface="Times New Roman" panose="02020603050405020304" pitchFamily="18" charset="0"/>
                <a:cs typeface="Times New Roman" panose="02020603050405020304" pitchFamily="18" charset="0"/>
              </a:rPr>
              <a:t>AI and ML, especially CNNs, offer a reliable solution by minimizing human error and improving consistency.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6457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4263D-7A43-39B9-6001-CEE856DDF5C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3.0.EXISTING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A546E4-9575-23A8-1A98-2206C60DAD85}"/>
              </a:ext>
            </a:extLst>
          </p:cNvPr>
          <p:cNvSpPr>
            <a:spLocks noGrp="1"/>
          </p:cNvSpPr>
          <p:nvPr>
            <p:ph idx="1"/>
          </p:nvPr>
        </p:nvSpPr>
        <p:spPr>
          <a:xfrm>
            <a:off x="677334" y="1535185"/>
            <a:ext cx="8596668" cy="4506177"/>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1.Identification Process</a:t>
            </a:r>
          </a:p>
          <a:p>
            <a:pPr marL="0" indent="0">
              <a:buNone/>
            </a:pPr>
            <a:r>
              <a:rPr lang="en-US" dirty="0">
                <a:latin typeface="Times New Roman" panose="02020603050405020304" pitchFamily="18" charset="0"/>
                <a:cs typeface="Times New Roman" panose="02020603050405020304" pitchFamily="18" charset="0"/>
              </a:rPr>
              <a:t>Based on visual inspection of paddy grain features (shape, size, texture).Involves physical comparison with known samples, without automation</a:t>
            </a:r>
          </a:p>
          <a:p>
            <a:pPr marL="0" indent="0">
              <a:buNone/>
            </a:pPr>
            <a:r>
              <a:rPr lang="en-US" b="1" dirty="0">
                <a:latin typeface="Times New Roman" panose="02020603050405020304" pitchFamily="18" charset="0"/>
                <a:cs typeface="Times New Roman" panose="02020603050405020304" pitchFamily="18" charset="0"/>
              </a:rPr>
              <a:t>2. Expert Dependency</a:t>
            </a:r>
          </a:p>
          <a:p>
            <a:pPr marL="0" indent="0">
              <a:buNone/>
            </a:pPr>
            <a:r>
              <a:rPr lang="en-US" dirty="0">
                <a:latin typeface="Times New Roman" panose="02020603050405020304" pitchFamily="18" charset="0"/>
                <a:cs typeface="Times New Roman" panose="02020603050405020304" pitchFamily="18" charset="0"/>
              </a:rPr>
              <a:t>Requires agricultural specialists with deep domain </a:t>
            </a:r>
            <a:r>
              <a:rPr lang="en-US" dirty="0" err="1">
                <a:latin typeface="Times New Roman" panose="02020603050405020304" pitchFamily="18" charset="0"/>
                <a:cs typeface="Times New Roman" panose="02020603050405020304" pitchFamily="18" charset="0"/>
              </a:rPr>
              <a:t>knowledge.Accuracy</a:t>
            </a:r>
            <a:r>
              <a:rPr lang="en-US" dirty="0">
                <a:latin typeface="Times New Roman" panose="02020603050405020304" pitchFamily="18" charset="0"/>
                <a:cs typeface="Times New Roman" panose="02020603050405020304" pitchFamily="18" charset="0"/>
              </a:rPr>
              <a:t> depends on the judgment and experience of the expert</a:t>
            </a:r>
          </a:p>
          <a:p>
            <a:pPr marL="0" indent="0">
              <a:buNone/>
            </a:pPr>
            <a:r>
              <a:rPr lang="en-US" b="1" dirty="0">
                <a:latin typeface="Times New Roman" panose="02020603050405020304" pitchFamily="18" charset="0"/>
                <a:cs typeface="Times New Roman" panose="02020603050405020304" pitchFamily="18" charset="0"/>
              </a:rPr>
              <a:t> 3. Time and Labor</a:t>
            </a:r>
          </a:p>
          <a:p>
            <a:pPr marL="0" indent="0">
              <a:buNone/>
            </a:pPr>
            <a:r>
              <a:rPr lang="en-US" dirty="0">
                <a:latin typeface="Times New Roman" panose="02020603050405020304" pitchFamily="18" charset="0"/>
                <a:cs typeface="Times New Roman" panose="02020603050405020304" pitchFamily="18" charset="0"/>
              </a:rPr>
              <a:t>The process is slow and manually </a:t>
            </a:r>
            <a:r>
              <a:rPr lang="en-US" dirty="0" err="1">
                <a:latin typeface="Times New Roman" panose="02020603050405020304" pitchFamily="18" charset="0"/>
                <a:cs typeface="Times New Roman" panose="02020603050405020304" pitchFamily="18" charset="0"/>
              </a:rPr>
              <a:t>intensive.Not</a:t>
            </a:r>
            <a:r>
              <a:rPr lang="en-US" dirty="0">
                <a:latin typeface="Times New Roman" panose="02020603050405020304" pitchFamily="18" charset="0"/>
                <a:cs typeface="Times New Roman" panose="02020603050405020304" pitchFamily="18" charset="0"/>
              </a:rPr>
              <a:t> practical for large-scale or rapid assessments</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4. Human Error</a:t>
            </a:r>
          </a:p>
          <a:p>
            <a:pPr marL="0" indent="0">
              <a:buNone/>
            </a:pPr>
            <a:r>
              <a:rPr lang="en-US" dirty="0">
                <a:latin typeface="Times New Roman" panose="02020603050405020304" pitchFamily="18" charset="0"/>
                <a:cs typeface="Times New Roman" panose="02020603050405020304" pitchFamily="18" charset="0"/>
              </a:rPr>
              <a:t>Results are often subjective and inconsistent between </a:t>
            </a:r>
            <a:r>
              <a:rPr lang="en-US" dirty="0" err="1">
                <a:latin typeface="Times New Roman" panose="02020603050405020304" pitchFamily="18" charset="0"/>
                <a:cs typeface="Times New Roman" panose="02020603050405020304" pitchFamily="18" charset="0"/>
              </a:rPr>
              <a:t>evaluators.Prone</a:t>
            </a:r>
            <a:r>
              <a:rPr lang="en-US" dirty="0">
                <a:latin typeface="Times New Roman" panose="02020603050405020304" pitchFamily="18" charset="0"/>
                <a:cs typeface="Times New Roman" panose="02020603050405020304" pitchFamily="18" charset="0"/>
              </a:rPr>
              <a:t> to fatigue and misclassification during long sessions</a:t>
            </a:r>
          </a:p>
          <a:p>
            <a:pPr marL="0" indent="0">
              <a:buNone/>
            </a:pPr>
            <a:r>
              <a:rPr lang="en-US" b="1" dirty="0">
                <a:latin typeface="Times New Roman" panose="02020603050405020304" pitchFamily="18" charset="0"/>
                <a:cs typeface="Times New Roman" panose="02020603050405020304" pitchFamily="18" charset="0"/>
              </a:rPr>
              <a:t>5. Scalability Issues</a:t>
            </a:r>
          </a:p>
          <a:p>
            <a:pPr marL="0" indent="0">
              <a:buNone/>
            </a:pPr>
            <a:r>
              <a:rPr lang="en-US" dirty="0">
                <a:latin typeface="Times New Roman" panose="02020603050405020304" pitchFamily="18" charset="0"/>
                <a:cs typeface="Times New Roman" panose="02020603050405020304" pitchFamily="18" charset="0"/>
              </a:rPr>
              <a:t>Not suitable for bulk or real-time </a:t>
            </a:r>
            <a:r>
              <a:rPr lang="en-US" dirty="0" err="1">
                <a:latin typeface="Times New Roman" panose="02020603050405020304" pitchFamily="18" charset="0"/>
                <a:cs typeface="Times New Roman" panose="02020603050405020304" pitchFamily="18" charset="0"/>
              </a:rPr>
              <a:t>processing.Lacks</a:t>
            </a:r>
            <a:r>
              <a:rPr lang="en-US" dirty="0">
                <a:latin typeface="Times New Roman" panose="02020603050405020304" pitchFamily="18" charset="0"/>
                <a:cs typeface="Times New Roman" panose="02020603050405020304" pitchFamily="18" charset="0"/>
              </a:rPr>
              <a:t> integration with modern, data-driven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1683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B188-2C7C-48F8-FE9E-57252723627B}"/>
              </a:ext>
            </a:extLst>
          </p:cNvPr>
          <p:cNvSpPr>
            <a:spLocks noGrp="1"/>
          </p:cNvSpPr>
          <p:nvPr>
            <p:ph type="title"/>
          </p:nvPr>
        </p:nvSpPr>
        <p:spPr>
          <a:xfrm>
            <a:off x="677334" y="609600"/>
            <a:ext cx="8596668" cy="850084"/>
          </a:xfrm>
        </p:spPr>
        <p:txBody>
          <a:bodyPr/>
          <a:lstStyle/>
          <a:p>
            <a:r>
              <a:rPr lang="en-US" dirty="0">
                <a:latin typeface="Times New Roman" panose="02020603050405020304" pitchFamily="18" charset="0"/>
                <a:cs typeface="Times New Roman" panose="02020603050405020304" pitchFamily="18" charset="0"/>
              </a:rPr>
              <a:t>3.1.ADVANTAGES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4099CE-9417-1126-D807-56CB03B80455}"/>
              </a:ext>
            </a:extLst>
          </p:cNvPr>
          <p:cNvSpPr>
            <a:spLocks noGrp="1"/>
          </p:cNvSpPr>
          <p:nvPr>
            <p:ph idx="1"/>
          </p:nvPr>
        </p:nvSpPr>
        <p:spPr>
          <a:xfrm>
            <a:off x="677334" y="1644243"/>
            <a:ext cx="8596668" cy="4397120"/>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1. Automation</a:t>
            </a:r>
          </a:p>
          <a:p>
            <a:pPr marL="0" indent="0">
              <a:buNone/>
            </a:pPr>
            <a:r>
              <a:rPr lang="en-US" dirty="0">
                <a:latin typeface="Times New Roman" panose="02020603050405020304" pitchFamily="18" charset="0"/>
                <a:cs typeface="Times New Roman" panose="02020603050405020304" pitchFamily="18" charset="0"/>
              </a:rPr>
              <a:t>Eliminates manual inspection through fully automated </a:t>
            </a:r>
            <a:r>
              <a:rPr lang="en-US" dirty="0" err="1">
                <a:latin typeface="Times New Roman" panose="02020603050405020304" pitchFamily="18" charset="0"/>
                <a:cs typeface="Times New Roman" panose="02020603050405020304" pitchFamily="18" charset="0"/>
              </a:rPr>
              <a:t>analysis.Reduces</a:t>
            </a:r>
            <a:r>
              <a:rPr lang="en-US" dirty="0">
                <a:latin typeface="Times New Roman" panose="02020603050405020304" pitchFamily="18" charset="0"/>
                <a:cs typeface="Times New Roman" panose="02020603050405020304" pitchFamily="18" charset="0"/>
              </a:rPr>
              <a:t> the need for human intervention and expertise</a:t>
            </a:r>
          </a:p>
          <a:p>
            <a:pPr marL="0" indent="0">
              <a:buNone/>
            </a:pPr>
            <a:r>
              <a:rPr lang="en-US" b="1" dirty="0">
                <a:latin typeface="Times New Roman" panose="02020603050405020304" pitchFamily="18" charset="0"/>
                <a:cs typeface="Times New Roman" panose="02020603050405020304" pitchFamily="18" charset="0"/>
              </a:rPr>
              <a:t>2. High Accuracy</a:t>
            </a:r>
          </a:p>
          <a:p>
            <a:pPr marL="0" indent="0">
              <a:buNone/>
            </a:pPr>
            <a:r>
              <a:rPr lang="en-US" dirty="0">
                <a:latin typeface="Times New Roman" panose="02020603050405020304" pitchFamily="18" charset="0"/>
                <a:cs typeface="Times New Roman" panose="02020603050405020304" pitchFamily="18" charset="0"/>
              </a:rPr>
              <a:t>CNN model can detect subtle visual differences in grain </a:t>
            </a:r>
            <a:r>
              <a:rPr lang="en-US" dirty="0" err="1">
                <a:latin typeface="Times New Roman" panose="02020603050405020304" pitchFamily="18" charset="0"/>
                <a:cs typeface="Times New Roman" panose="02020603050405020304" pitchFamily="18" charset="0"/>
              </a:rPr>
              <a:t>features.Offers</a:t>
            </a:r>
            <a:r>
              <a:rPr lang="en-US" dirty="0">
                <a:latin typeface="Times New Roman" panose="02020603050405020304" pitchFamily="18" charset="0"/>
                <a:cs typeface="Times New Roman" panose="02020603050405020304" pitchFamily="18" charset="0"/>
              </a:rPr>
              <a:t> high classification accuracy with consistent results</a:t>
            </a:r>
          </a:p>
          <a:p>
            <a:pPr marL="0" indent="0">
              <a:buNone/>
            </a:pPr>
            <a:r>
              <a:rPr lang="en-US" b="1" dirty="0">
                <a:latin typeface="Times New Roman" panose="02020603050405020304" pitchFamily="18" charset="0"/>
                <a:cs typeface="Times New Roman" panose="02020603050405020304" pitchFamily="18" charset="0"/>
              </a:rPr>
              <a:t> 3. Speed and Efficiency</a:t>
            </a:r>
          </a:p>
          <a:p>
            <a:pPr marL="0" indent="0">
              <a:buNone/>
            </a:pPr>
            <a:r>
              <a:rPr lang="en-US" dirty="0">
                <a:latin typeface="Times New Roman" panose="02020603050405020304" pitchFamily="18" charset="0"/>
                <a:cs typeface="Times New Roman" panose="02020603050405020304" pitchFamily="18" charset="0"/>
              </a:rPr>
              <a:t>Capable of processing thousands of images </a:t>
            </a:r>
            <a:r>
              <a:rPr lang="en-US" dirty="0" err="1">
                <a:latin typeface="Times New Roman" panose="02020603050405020304" pitchFamily="18" charset="0"/>
                <a:cs typeface="Times New Roman" panose="02020603050405020304" pitchFamily="18" charset="0"/>
              </a:rPr>
              <a:t>quickly.Suitable</a:t>
            </a:r>
            <a:r>
              <a:rPr lang="en-US" dirty="0">
                <a:latin typeface="Times New Roman" panose="02020603050405020304" pitchFamily="18" charset="0"/>
                <a:cs typeface="Times New Roman" panose="02020603050405020304" pitchFamily="18" charset="0"/>
              </a:rPr>
              <a:t> for real-time or large-scale applications</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4. Consistency</a:t>
            </a:r>
          </a:p>
          <a:p>
            <a:pPr marL="0" indent="0">
              <a:buNone/>
            </a:pPr>
            <a:r>
              <a:rPr lang="en-US" dirty="0">
                <a:latin typeface="Times New Roman" panose="02020603050405020304" pitchFamily="18" charset="0"/>
                <a:cs typeface="Times New Roman" panose="02020603050405020304" pitchFamily="18" charset="0"/>
              </a:rPr>
              <a:t>Provides uniform and objective results, removing </a:t>
            </a:r>
            <a:r>
              <a:rPr lang="en-US" dirty="0" err="1">
                <a:latin typeface="Times New Roman" panose="02020603050405020304" pitchFamily="18" charset="0"/>
                <a:cs typeface="Times New Roman" panose="02020603050405020304" pitchFamily="18" charset="0"/>
              </a:rPr>
              <a:t>subjectivity.Performance</a:t>
            </a:r>
            <a:r>
              <a:rPr lang="en-US" dirty="0">
                <a:latin typeface="Times New Roman" panose="02020603050405020304" pitchFamily="18" charset="0"/>
                <a:cs typeface="Times New Roman" panose="02020603050405020304" pitchFamily="18" charset="0"/>
              </a:rPr>
              <a:t> is not affected by fatigue or bias</a:t>
            </a:r>
          </a:p>
          <a:p>
            <a:pPr marL="0" indent="0">
              <a:buNone/>
            </a:pPr>
            <a:r>
              <a:rPr lang="en-US" b="1" dirty="0">
                <a:latin typeface="Times New Roman" panose="02020603050405020304" pitchFamily="18" charset="0"/>
                <a:cs typeface="Times New Roman" panose="02020603050405020304" pitchFamily="18" charset="0"/>
              </a:rPr>
              <a:t> 5. Scalability</a:t>
            </a:r>
          </a:p>
          <a:p>
            <a:pPr marL="0" indent="0">
              <a:buNone/>
            </a:pPr>
            <a:r>
              <a:rPr lang="en-US" dirty="0">
                <a:latin typeface="Times New Roman" panose="02020603050405020304" pitchFamily="18" charset="0"/>
                <a:cs typeface="Times New Roman" panose="02020603050405020304" pitchFamily="18" charset="0"/>
              </a:rPr>
              <a:t>Easily expandable to include more paddy </a:t>
            </a:r>
            <a:r>
              <a:rPr lang="en-US" dirty="0" err="1">
                <a:latin typeface="Times New Roman" panose="02020603050405020304" pitchFamily="18" charset="0"/>
                <a:cs typeface="Times New Roman" panose="02020603050405020304" pitchFamily="18" charset="0"/>
              </a:rPr>
              <a:t>varieties.Can</a:t>
            </a:r>
            <a:r>
              <a:rPr lang="en-US" dirty="0">
                <a:latin typeface="Times New Roman" panose="02020603050405020304" pitchFamily="18" charset="0"/>
                <a:cs typeface="Times New Roman" panose="02020603050405020304" pitchFamily="18" charset="0"/>
              </a:rPr>
              <a:t> be integrated into digital agriculture systems and mobile apps.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8071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546DA-50B9-A003-700F-77B599C7AF95}"/>
              </a:ext>
            </a:extLst>
          </p:cNvPr>
          <p:cNvSpPr>
            <a:spLocks noGrp="1"/>
          </p:cNvSpPr>
          <p:nvPr>
            <p:ph type="title"/>
          </p:nvPr>
        </p:nvSpPr>
        <p:spPr>
          <a:xfrm>
            <a:off x="610223" y="517321"/>
            <a:ext cx="8596668" cy="833307"/>
          </a:xfrm>
        </p:spPr>
        <p:txBody>
          <a:bodyPr/>
          <a:lstStyle/>
          <a:p>
            <a:r>
              <a:rPr lang="en-US" dirty="0">
                <a:latin typeface="Times New Roman" panose="02020603050405020304" pitchFamily="18" charset="0"/>
                <a:cs typeface="Times New Roman" panose="02020603050405020304" pitchFamily="18" charset="0"/>
              </a:rPr>
              <a:t>3.2.DISADVANTAGES: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A63B2E-69F1-2F8B-8880-C76DDC999963}"/>
              </a:ext>
            </a:extLst>
          </p:cNvPr>
          <p:cNvSpPr>
            <a:spLocks noGrp="1"/>
          </p:cNvSpPr>
          <p:nvPr>
            <p:ph idx="1"/>
          </p:nvPr>
        </p:nvSpPr>
        <p:spPr>
          <a:xfrm>
            <a:off x="677334" y="1560353"/>
            <a:ext cx="8596668" cy="4481010"/>
          </a:xfrm>
        </p:spPr>
        <p:txBody>
          <a:bodyPr/>
          <a:lstStyle/>
          <a:p>
            <a:pPr marL="0" indent="0">
              <a:buNone/>
            </a:pPr>
            <a:r>
              <a:rPr lang="en-US" b="1" dirty="0">
                <a:latin typeface="Times New Roman" panose="02020603050405020304" pitchFamily="18" charset="0"/>
                <a:cs typeface="Times New Roman" panose="02020603050405020304" pitchFamily="18" charset="0"/>
              </a:rPr>
              <a:t>1.Data Dependency</a:t>
            </a:r>
          </a:p>
          <a:p>
            <a:pPr marL="0" indent="0">
              <a:buNone/>
            </a:pPr>
            <a:r>
              <a:rPr lang="en-US" dirty="0">
                <a:latin typeface="Times New Roman" panose="02020603050405020304" pitchFamily="18" charset="0"/>
                <a:cs typeface="Times New Roman" panose="02020603050405020304" pitchFamily="18" charset="0"/>
              </a:rPr>
              <a:t>Requires a large, high-quality image dataset for </a:t>
            </a:r>
            <a:r>
              <a:rPr lang="en-US" dirty="0" err="1">
                <a:latin typeface="Times New Roman" panose="02020603050405020304" pitchFamily="18" charset="0"/>
                <a:cs typeface="Times New Roman" panose="02020603050405020304" pitchFamily="18" charset="0"/>
              </a:rPr>
              <a:t>training.Performance</a:t>
            </a:r>
            <a:r>
              <a:rPr lang="en-US" dirty="0">
                <a:latin typeface="Times New Roman" panose="02020603050405020304" pitchFamily="18" charset="0"/>
                <a:cs typeface="Times New Roman" panose="02020603050405020304" pitchFamily="18" charset="0"/>
              </a:rPr>
              <a:t> may drop if the data is imbalanced or noisy</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Technical Complexity</a:t>
            </a:r>
          </a:p>
          <a:p>
            <a:pPr marL="0" indent="0">
              <a:buNone/>
            </a:pPr>
            <a:r>
              <a:rPr lang="en-US" dirty="0">
                <a:latin typeface="Times New Roman" panose="02020603050405020304" pitchFamily="18" charset="0"/>
                <a:cs typeface="Times New Roman" panose="02020603050405020304" pitchFamily="18" charset="0"/>
              </a:rPr>
              <a:t>Involves complex model design, training, and </a:t>
            </a:r>
            <a:r>
              <a:rPr lang="en-US" dirty="0" err="1">
                <a:latin typeface="Times New Roman" panose="02020603050405020304" pitchFamily="18" charset="0"/>
                <a:cs typeface="Times New Roman" panose="02020603050405020304" pitchFamily="18" charset="0"/>
              </a:rPr>
              <a:t>tuning.Needs</a:t>
            </a:r>
            <a:r>
              <a:rPr lang="en-US" dirty="0">
                <a:latin typeface="Times New Roman" panose="02020603050405020304" pitchFamily="18" charset="0"/>
                <a:cs typeface="Times New Roman" panose="02020603050405020304" pitchFamily="18" charset="0"/>
              </a:rPr>
              <a:t> AI/ML expertise for development and maintenance</a:t>
            </a:r>
          </a:p>
          <a:p>
            <a:pPr marL="0" indent="0">
              <a:buNone/>
            </a:pPr>
            <a:r>
              <a:rPr lang="en-US" b="1" dirty="0">
                <a:latin typeface="Times New Roman" panose="02020603050405020304" pitchFamily="18" charset="0"/>
                <a:cs typeface="Times New Roman" panose="02020603050405020304" pitchFamily="18" charset="0"/>
              </a:rPr>
              <a:t>3. Generalization Issues</a:t>
            </a:r>
          </a:p>
          <a:p>
            <a:pPr marL="0" indent="0">
              <a:buNone/>
            </a:pPr>
            <a:r>
              <a:rPr lang="en-US" dirty="0">
                <a:latin typeface="Times New Roman" panose="02020603050405020304" pitchFamily="18" charset="0"/>
                <a:cs typeface="Times New Roman" panose="02020603050405020304" pitchFamily="18" charset="0"/>
              </a:rPr>
              <a:t>Model may not perform well on unseen or rare </a:t>
            </a:r>
            <a:r>
              <a:rPr lang="en-US" dirty="0" err="1">
                <a:latin typeface="Times New Roman" panose="02020603050405020304" pitchFamily="18" charset="0"/>
                <a:cs typeface="Times New Roman" panose="02020603050405020304" pitchFamily="18" charset="0"/>
              </a:rPr>
              <a:t>varieties.Needs</a:t>
            </a:r>
            <a:r>
              <a:rPr lang="en-US" dirty="0">
                <a:latin typeface="Times New Roman" panose="02020603050405020304" pitchFamily="18" charset="0"/>
                <a:cs typeface="Times New Roman" panose="02020603050405020304" pitchFamily="18" charset="0"/>
              </a:rPr>
              <a:t> frequent updates or retraining to stay accurate</a:t>
            </a:r>
          </a:p>
        </p:txBody>
      </p:sp>
    </p:spTree>
    <p:extLst>
      <p:ext uri="{BB962C8B-B14F-4D97-AF65-F5344CB8AC3E}">
        <p14:creationId xmlns:p14="http://schemas.microsoft.com/office/powerpoint/2010/main" val="1032978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35E9D-1166-962E-58ED-D3CFA3345E96}"/>
              </a:ext>
            </a:extLst>
          </p:cNvPr>
          <p:cNvSpPr>
            <a:spLocks noGrp="1"/>
          </p:cNvSpPr>
          <p:nvPr>
            <p:ph type="title"/>
          </p:nvPr>
        </p:nvSpPr>
        <p:spPr>
          <a:xfrm>
            <a:off x="677334" y="609600"/>
            <a:ext cx="8596668" cy="1017864"/>
          </a:xfrm>
        </p:spPr>
        <p:txBody>
          <a:bodyPr/>
          <a:lstStyle/>
          <a:p>
            <a:r>
              <a:rPr lang="en-US" dirty="0">
                <a:latin typeface="Times New Roman" panose="02020603050405020304" pitchFamily="18" charset="0"/>
                <a:cs typeface="Times New Roman" panose="02020603050405020304" pitchFamily="18" charset="0"/>
              </a:rPr>
              <a:t>4.0.PROPOSED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7D2F95-BA2F-DF8B-B78F-163990FAE9F4}"/>
              </a:ext>
            </a:extLst>
          </p:cNvPr>
          <p:cNvSpPr>
            <a:spLocks noGrp="1"/>
          </p:cNvSpPr>
          <p:nvPr>
            <p:ph idx="1"/>
          </p:nvPr>
        </p:nvSpPr>
        <p:spPr>
          <a:xfrm>
            <a:off x="677334" y="1459684"/>
            <a:ext cx="8596668" cy="4581679"/>
          </a:xfrm>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1. System Overview</a:t>
            </a:r>
          </a:p>
          <a:p>
            <a:pPr marL="0" indent="0">
              <a:buNone/>
            </a:pPr>
            <a:r>
              <a:rPr lang="en-IN" dirty="0">
                <a:latin typeface="Times New Roman" panose="02020603050405020304" pitchFamily="18" charset="0"/>
                <a:cs typeface="Times New Roman" panose="02020603050405020304" pitchFamily="18" charset="0"/>
              </a:rPr>
              <a:t>Uses Convolutional Neural Networks (CNN) to classify paddy grain </a:t>
            </a:r>
            <a:r>
              <a:rPr lang="en-IN" dirty="0" err="1">
                <a:latin typeface="Times New Roman" panose="02020603050405020304" pitchFamily="18" charset="0"/>
                <a:cs typeface="Times New Roman" panose="02020603050405020304" pitchFamily="18" charset="0"/>
              </a:rPr>
              <a:t>images.Aims</a:t>
            </a:r>
            <a:r>
              <a:rPr lang="en-IN" dirty="0">
                <a:latin typeface="Times New Roman" panose="02020603050405020304" pitchFamily="18" charset="0"/>
                <a:cs typeface="Times New Roman" panose="02020603050405020304" pitchFamily="18" charset="0"/>
              </a:rPr>
              <a:t> to automate variety detection based on visual grain features like shape, size, and texture</a:t>
            </a:r>
          </a:p>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2. Image Dataset</a:t>
            </a:r>
          </a:p>
          <a:p>
            <a:pPr marL="0" indent="0">
              <a:buNone/>
            </a:pPr>
            <a:r>
              <a:rPr lang="en-IN" dirty="0">
                <a:latin typeface="Times New Roman" panose="02020603050405020304" pitchFamily="18" charset="0"/>
                <a:cs typeface="Times New Roman" panose="02020603050405020304" pitchFamily="18" charset="0"/>
              </a:rPr>
              <a:t>Collect images of multiple paddy varieties under controlled </a:t>
            </a:r>
            <a:r>
              <a:rPr lang="en-IN" dirty="0" err="1">
                <a:latin typeface="Times New Roman" panose="02020603050405020304" pitchFamily="18" charset="0"/>
                <a:cs typeface="Times New Roman" panose="02020603050405020304" pitchFamily="18" charset="0"/>
              </a:rPr>
              <a:t>lighting.Preprocess</a:t>
            </a:r>
            <a:r>
              <a:rPr lang="en-IN" dirty="0">
                <a:latin typeface="Times New Roman" panose="02020603050405020304" pitchFamily="18" charset="0"/>
                <a:cs typeface="Times New Roman" panose="02020603050405020304" pitchFamily="18" charset="0"/>
              </a:rPr>
              <a:t> images to remove noise, resize, and normalize for model training.</a:t>
            </a:r>
          </a:p>
          <a:p>
            <a:pPr marL="0" indent="0">
              <a:buNone/>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3. Model Training</a:t>
            </a:r>
          </a:p>
          <a:p>
            <a:pPr marL="0" indent="0">
              <a:buNone/>
            </a:pPr>
            <a:r>
              <a:rPr lang="en-IN" dirty="0">
                <a:latin typeface="Times New Roman" panose="02020603050405020304" pitchFamily="18" charset="0"/>
                <a:cs typeface="Times New Roman" panose="02020603050405020304" pitchFamily="18" charset="0"/>
              </a:rPr>
              <a:t>Train a CNN model using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image </a:t>
            </a:r>
            <a:r>
              <a:rPr lang="en-IN" dirty="0" err="1">
                <a:latin typeface="Times New Roman" panose="02020603050405020304" pitchFamily="18" charset="0"/>
                <a:cs typeface="Times New Roman" panose="02020603050405020304" pitchFamily="18" charset="0"/>
              </a:rPr>
              <a:t>data.CNN</a:t>
            </a:r>
            <a:r>
              <a:rPr lang="en-IN" dirty="0">
                <a:latin typeface="Times New Roman" panose="02020603050405020304" pitchFamily="18" charset="0"/>
                <a:cs typeface="Times New Roman" panose="02020603050405020304" pitchFamily="18" charset="0"/>
              </a:rPr>
              <a:t> learns features through multiple layers (convolution, pooling, etc</a:t>
            </a:r>
          </a:p>
          <a:p>
            <a:pPr marL="0" indent="0">
              <a:buNone/>
            </a:pPr>
            <a:r>
              <a:rPr lang="en-IN" b="1" dirty="0">
                <a:latin typeface="Times New Roman" panose="02020603050405020304" pitchFamily="18" charset="0"/>
                <a:cs typeface="Times New Roman" panose="02020603050405020304" pitchFamily="18" charset="0"/>
              </a:rPr>
              <a:t>4. Classification and Prediction</a:t>
            </a:r>
          </a:p>
          <a:p>
            <a:pPr marL="0" indent="0">
              <a:buNone/>
            </a:pPr>
            <a:r>
              <a:rPr lang="en-IN" dirty="0">
                <a:latin typeface="Times New Roman" panose="02020603050405020304" pitchFamily="18" charset="0"/>
                <a:cs typeface="Times New Roman" panose="02020603050405020304" pitchFamily="18" charset="0"/>
              </a:rPr>
              <a:t>Once trained, the model can accurately predict the paddy variety from a new </a:t>
            </a:r>
            <a:r>
              <a:rPr lang="en-IN" dirty="0" err="1">
                <a:latin typeface="Times New Roman" panose="02020603050405020304" pitchFamily="18" charset="0"/>
                <a:cs typeface="Times New Roman" panose="02020603050405020304" pitchFamily="18" charset="0"/>
              </a:rPr>
              <a:t>image.The</a:t>
            </a:r>
            <a:r>
              <a:rPr lang="en-IN" dirty="0">
                <a:latin typeface="Times New Roman" panose="02020603050405020304" pitchFamily="18" charset="0"/>
                <a:cs typeface="Times New Roman" panose="02020603050405020304" pitchFamily="18" charset="0"/>
              </a:rPr>
              <a:t> model outputs </a:t>
            </a:r>
            <a:r>
              <a:rPr lang="en-IN" dirty="0" err="1">
                <a:latin typeface="Times New Roman" panose="02020603050405020304" pitchFamily="18" charset="0"/>
                <a:cs typeface="Times New Roman" panose="02020603050405020304" pitchFamily="18" charset="0"/>
              </a:rPr>
              <a:t>theclass</a:t>
            </a:r>
            <a:r>
              <a:rPr lang="en-IN" dirty="0">
                <a:latin typeface="Times New Roman" panose="02020603050405020304" pitchFamily="18" charset="0"/>
                <a:cs typeface="Times New Roman" panose="02020603050405020304" pitchFamily="18" charset="0"/>
              </a:rPr>
              <a:t> label with a confidence score</a:t>
            </a:r>
          </a:p>
          <a:p>
            <a:pPr marL="0" indent="0">
              <a:buNone/>
            </a:pPr>
            <a:r>
              <a:rPr lang="en-IN" b="1" dirty="0">
                <a:latin typeface="Times New Roman" panose="02020603050405020304" pitchFamily="18" charset="0"/>
                <a:cs typeface="Times New Roman" panose="02020603050405020304" pitchFamily="18" charset="0"/>
              </a:rPr>
              <a:t>5. Evaluation Metrics</a:t>
            </a:r>
          </a:p>
          <a:p>
            <a:pPr marL="0" indent="0">
              <a:buNone/>
            </a:pPr>
            <a:r>
              <a:rPr lang="en-IN" dirty="0">
                <a:latin typeface="Times New Roman" panose="02020603050405020304" pitchFamily="18" charset="0"/>
                <a:cs typeface="Times New Roman" panose="02020603050405020304" pitchFamily="18" charset="0"/>
              </a:rPr>
              <a:t>Accuracy, Precision, Recall, F1-score, and Confusion Matrix used for performance </a:t>
            </a:r>
            <a:r>
              <a:rPr lang="en-IN" dirty="0" err="1">
                <a:latin typeface="Times New Roman" panose="02020603050405020304" pitchFamily="18" charset="0"/>
                <a:cs typeface="Times New Roman" panose="02020603050405020304" pitchFamily="18" charset="0"/>
              </a:rPr>
              <a:t>evaluation.Ensures</a:t>
            </a:r>
            <a:r>
              <a:rPr lang="en-IN" dirty="0">
                <a:latin typeface="Times New Roman" panose="02020603050405020304" pitchFamily="18" charset="0"/>
                <a:cs typeface="Times New Roman" panose="02020603050405020304" pitchFamily="18" charset="0"/>
              </a:rPr>
              <a:t> robustness and reliability of the system.</a:t>
            </a:r>
          </a:p>
        </p:txBody>
      </p:sp>
    </p:spTree>
    <p:extLst>
      <p:ext uri="{BB962C8B-B14F-4D97-AF65-F5344CB8AC3E}">
        <p14:creationId xmlns:p14="http://schemas.microsoft.com/office/powerpoint/2010/main" val="462349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E781-483C-A3CA-D242-406C86548518}"/>
              </a:ext>
            </a:extLst>
          </p:cNvPr>
          <p:cNvSpPr>
            <a:spLocks noGrp="1"/>
          </p:cNvSpPr>
          <p:nvPr>
            <p:ph type="title"/>
          </p:nvPr>
        </p:nvSpPr>
        <p:spPr>
          <a:xfrm>
            <a:off x="484387" y="542488"/>
            <a:ext cx="8596668" cy="1320800"/>
          </a:xfrm>
        </p:spPr>
        <p:txBody>
          <a:bodyPr/>
          <a:lstStyle/>
          <a:p>
            <a:r>
              <a:rPr lang="en-US" dirty="0">
                <a:latin typeface="Times New Roman" panose="02020603050405020304" pitchFamily="18" charset="0"/>
                <a:cs typeface="Times New Roman" panose="02020603050405020304" pitchFamily="18" charset="0"/>
              </a:rPr>
              <a:t>4.1.ALGORITHMS AND TECHNOLOGIES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C5348F-A9C3-1B82-2A70-059A798C9398}"/>
              </a:ext>
            </a:extLst>
          </p:cNvPr>
          <p:cNvSpPr>
            <a:spLocks noGrp="1"/>
          </p:cNvSpPr>
          <p:nvPr>
            <p:ph idx="1"/>
          </p:nvPr>
        </p:nvSpPr>
        <p:spPr>
          <a:xfrm>
            <a:off x="677334" y="1442907"/>
            <a:ext cx="8596668" cy="4598456"/>
          </a:xfrm>
        </p:spPr>
        <p:txBody>
          <a:bodyPr/>
          <a:lstStyle/>
          <a:p>
            <a:r>
              <a:rPr lang="en-US" b="1" dirty="0">
                <a:latin typeface="Times New Roman" panose="02020603050405020304" pitchFamily="18" charset="0"/>
                <a:cs typeface="Times New Roman" panose="02020603050405020304" pitchFamily="18" charset="0"/>
              </a:rPr>
              <a:t>CNN (Convolutional Neural Network)</a:t>
            </a:r>
            <a:r>
              <a:rPr lang="en-US" dirty="0">
                <a:latin typeface="Times New Roman" panose="02020603050405020304" pitchFamily="18" charset="0"/>
                <a:cs typeface="Times New Roman" panose="02020603050405020304" pitchFamily="18" charset="0"/>
              </a:rPr>
              <a:t>→ A deep learning algorithm that automatically extracts and classifies image features.</a:t>
            </a:r>
          </a:p>
          <a:p>
            <a:r>
              <a:rPr lang="en-US" dirty="0">
                <a:latin typeface="Times New Roman" panose="02020603050405020304" pitchFamily="18" charset="0"/>
                <a:cs typeface="Times New Roman" panose="02020603050405020304" pitchFamily="18" charset="0"/>
              </a:rPr>
              <a:t>Best suited for image classification tasks.</a:t>
            </a:r>
          </a:p>
          <a:p>
            <a:r>
              <a:rPr lang="en-US" dirty="0">
                <a:latin typeface="Times New Roman" panose="02020603050405020304" pitchFamily="18" charset="0"/>
                <a:cs typeface="Times New Roman" panose="02020603050405020304" pitchFamily="18" charset="0"/>
              </a:rPr>
              <a:t>Automatically learns features like grain shape, size, texture, and color.</a:t>
            </a:r>
          </a:p>
          <a:p>
            <a:r>
              <a:rPr lang="en-US" dirty="0">
                <a:latin typeface="Times New Roman" panose="02020603050405020304" pitchFamily="18" charset="0"/>
                <a:cs typeface="Times New Roman" panose="02020603050405020304" pitchFamily="18" charset="0"/>
              </a:rPr>
              <a:t>Offers high accuracy and generalization if trained well.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57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A03A-BB08-2922-0D91-B9EF4E6F9F42}"/>
              </a:ext>
            </a:extLst>
          </p:cNvPr>
          <p:cNvSpPr>
            <a:spLocks noGrp="1"/>
          </p:cNvSpPr>
          <p:nvPr>
            <p:ph type="title"/>
          </p:nvPr>
        </p:nvSpPr>
        <p:spPr>
          <a:xfrm>
            <a:off x="677334" y="609600"/>
            <a:ext cx="8596668" cy="850084"/>
          </a:xfrm>
        </p:spPr>
        <p:txBody>
          <a:bodyPr/>
          <a:lstStyle/>
          <a:p>
            <a:r>
              <a:rPr lang="en-US" b="1" dirty="0">
                <a:latin typeface="Times New Roman" panose="02020603050405020304" pitchFamily="18" charset="0"/>
                <a:cs typeface="Times New Roman" panose="02020603050405020304" pitchFamily="18" charset="0"/>
              </a:rPr>
              <a:t>4.2.ARCHITECTURAL DAIGRAM</a:t>
            </a:r>
            <a:endParaRPr lang="en-IN"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07F6321C-4A90-689D-5121-E9CD42C379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42161" y="1804988"/>
            <a:ext cx="6728856" cy="38814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45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B6C1A-C3AB-EC85-3FBC-BCEF020201D8}"/>
              </a:ext>
            </a:extLst>
          </p:cNvPr>
          <p:cNvSpPr>
            <a:spLocks noGrp="1"/>
          </p:cNvSpPr>
          <p:nvPr>
            <p:ph type="title"/>
          </p:nvPr>
        </p:nvSpPr>
        <p:spPr>
          <a:xfrm>
            <a:off x="677334" y="609600"/>
            <a:ext cx="8596668" cy="1047750"/>
          </a:xfrm>
        </p:spPr>
        <p:txBody>
          <a:bodyPr/>
          <a:lstStyle/>
          <a:p>
            <a:r>
              <a:rPr lang="en-US" dirty="0">
                <a:latin typeface="Times New Roman" panose="02020603050405020304" pitchFamily="18" charset="0"/>
                <a:cs typeface="Times New Roman" panose="02020603050405020304" pitchFamily="18" charset="0"/>
              </a:rPr>
              <a:t>5.0.REFERENCE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495F54-E568-6E66-4D86-E9245CD9EBAF}"/>
              </a:ext>
            </a:extLst>
          </p:cNvPr>
          <p:cNvSpPr>
            <a:spLocks noGrp="1"/>
          </p:cNvSpPr>
          <p:nvPr>
            <p:ph idx="1"/>
          </p:nvPr>
        </p:nvSpPr>
        <p:spPr>
          <a:xfrm>
            <a:off x="677334" y="1781175"/>
            <a:ext cx="8596668" cy="4260187"/>
          </a:xfrm>
        </p:spPr>
        <p:txBody>
          <a:bodyPr/>
          <a:lstStyle/>
          <a:p>
            <a:r>
              <a:rPr lang="en-IN" dirty="0">
                <a:latin typeface="Times New Roman" panose="02020603050405020304" pitchFamily="18" charset="0"/>
                <a:cs typeface="Times New Roman" panose="02020603050405020304" pitchFamily="18" charset="0"/>
              </a:rPr>
              <a:t> LeCun, Y., Bengio, Y., &amp; Hinton, G. (2015). Deep learning. Nature, 521(7553), 436–444.2. Chollet, F. (2017). </a:t>
            </a:r>
          </a:p>
          <a:p>
            <a:r>
              <a:rPr lang="en-IN" dirty="0">
                <a:latin typeface="Times New Roman" panose="02020603050405020304" pitchFamily="18" charset="0"/>
                <a:cs typeface="Times New Roman" panose="02020603050405020304" pitchFamily="18" charset="0"/>
              </a:rPr>
              <a:t>Deep Learning with Python. Manning Publications</a:t>
            </a:r>
          </a:p>
          <a:p>
            <a:r>
              <a:rPr lang="en-IN" dirty="0">
                <a:latin typeface="Times New Roman" panose="02020603050405020304" pitchFamily="18" charset="0"/>
                <a:cs typeface="Times New Roman" panose="02020603050405020304" pitchFamily="18" charset="0"/>
              </a:rPr>
              <a:t> TensorFlow Documentation – https://www.tensorflow. </a:t>
            </a:r>
          </a:p>
          <a:p>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API Docs – </a:t>
            </a:r>
            <a:r>
              <a:rPr lang="en-IN" dirty="0">
                <a:latin typeface="Times New Roman" panose="02020603050405020304" pitchFamily="18" charset="0"/>
                <a:cs typeface="Times New Roman" panose="02020603050405020304" pitchFamily="18" charset="0"/>
                <a:hlinkClick r:id="rId2"/>
              </a:rPr>
              <a:t>https://keras.io</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OpenCV Python Docs – </a:t>
            </a:r>
            <a:r>
              <a:rPr lang="en-IN" dirty="0">
                <a:latin typeface="Times New Roman" panose="02020603050405020304" pitchFamily="18" charset="0"/>
                <a:cs typeface="Times New Roman" panose="02020603050405020304" pitchFamily="18" charset="0"/>
                <a:hlinkClick r:id="rId3"/>
              </a:rPr>
              <a:t>https://docs.opencv.org</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hlinkClick r:id="rId4"/>
              </a:rPr>
              <a:t>https://colab.research.google.co</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Kaggle Datasets – https://www.kaggle.com</a:t>
            </a:r>
          </a:p>
        </p:txBody>
      </p:sp>
    </p:spTree>
    <p:extLst>
      <p:ext uri="{BB962C8B-B14F-4D97-AF65-F5344CB8AC3E}">
        <p14:creationId xmlns:p14="http://schemas.microsoft.com/office/powerpoint/2010/main" val="37334797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95</TotalTime>
  <Words>864</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Times New Roman</vt:lpstr>
      <vt:lpstr>Trebuchet MS</vt:lpstr>
      <vt:lpstr>Wingdings 3</vt:lpstr>
      <vt:lpstr>Facet</vt:lpstr>
      <vt:lpstr>TITLE:"CNN-Powered Paddy Variety Detection Using AI and ML"</vt:lpstr>
      <vt:lpstr>1.0 .ABSTRACT:</vt:lpstr>
      <vt:lpstr>2.0.PROBLEM STATEMENT: </vt:lpstr>
      <vt:lpstr>3.0.EXISTING SYSTEM:</vt:lpstr>
      <vt:lpstr>3.1.ADVANTAGES</vt:lpstr>
      <vt:lpstr>3.2.DISADVANTAGES:</vt:lpstr>
      <vt:lpstr>4.0.PROPOSED SYSTEM:</vt:lpstr>
      <vt:lpstr>4.1.ALGORITHMS AND TECHNOLOGIES</vt:lpstr>
      <vt:lpstr>4.2.ARCHITECTURAL DAIGRAM</vt:lpstr>
      <vt:lpstr>5.0.REFERENCE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K</dc:creator>
  <cp:lastModifiedBy>AKASH K</cp:lastModifiedBy>
  <cp:revision>2</cp:revision>
  <dcterms:created xsi:type="dcterms:W3CDTF">2025-06-26T13:12:51Z</dcterms:created>
  <dcterms:modified xsi:type="dcterms:W3CDTF">2025-06-26T16:04:01Z</dcterms:modified>
</cp:coreProperties>
</file>